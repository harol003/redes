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71" r:id="rId3"/>
    <p:sldId id="258" r:id="rId4"/>
    <p:sldId id="277" r:id="rId5"/>
    <p:sldId id="288" r:id="rId6"/>
    <p:sldId id="353" r:id="rId7"/>
    <p:sldId id="278" r:id="rId8"/>
    <p:sldId id="316" r:id="rId9"/>
    <p:sldId id="287" r:id="rId10"/>
    <p:sldId id="386" r:id="rId11"/>
    <p:sldId id="429" r:id="rId12"/>
    <p:sldId id="430" r:id="rId13"/>
    <p:sldId id="431" r:id="rId14"/>
    <p:sldId id="432" r:id="rId15"/>
    <p:sldId id="418" r:id="rId16"/>
    <p:sldId id="433" r:id="rId17"/>
    <p:sldId id="434" r:id="rId18"/>
    <p:sldId id="445" r:id="rId19"/>
    <p:sldId id="438" r:id="rId20"/>
    <p:sldId id="435" r:id="rId21"/>
    <p:sldId id="439" r:id="rId22"/>
    <p:sldId id="437" r:id="rId23"/>
    <p:sldId id="440" r:id="rId24"/>
    <p:sldId id="436" r:id="rId25"/>
    <p:sldId id="441" r:id="rId26"/>
    <p:sldId id="443" r:id="rId27"/>
    <p:sldId id="442" r:id="rId28"/>
    <p:sldId id="444" r:id="rId29"/>
    <p:sldId id="447" r:id="rId30"/>
    <p:sldId id="446" r:id="rId31"/>
    <p:sldId id="448" r:id="rId32"/>
    <p:sldId id="309" r:id="rId33"/>
    <p:sldId id="352" r:id="rId34"/>
    <p:sldId id="417" r:id="rId35"/>
    <p:sldId id="414" r:id="rId36"/>
    <p:sldId id="415" r:id="rId37"/>
    <p:sldId id="303" r:id="rId38"/>
    <p:sldId id="279" r:id="rId39"/>
    <p:sldId id="266" r:id="rId4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3" autoAdjust="0"/>
    <p:restoredTop sz="94434" autoAdjust="0"/>
  </p:normalViewPr>
  <p:slideViewPr>
    <p:cSldViewPr snapToGrid="0" showGuides="1">
      <p:cViewPr varScale="1">
        <p:scale>
          <a:sx n="57" d="100"/>
          <a:sy n="57" d="100"/>
        </p:scale>
        <p:origin x="108" y="1122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A5E5A06-49CA-4CC1-87DE-FA77A677B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57FBC-7FA3-4A4B-999A-96FD7DC0D4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E61690C-4C47-4C78-B862-66354E985A5A}" type="datetime1">
              <a:rPr lang="es-ES" smtClean="0"/>
              <a:t>09/02/2025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E13074-6DA0-4561-A86B-2939D8B45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2B7A8E5-C1F9-40CC-A2A5-13CF7BD3F7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9DEC52A-C4AE-45FE-B7FF-C255388ED1F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76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47B61-BF17-45FD-9803-9BB2EB150729}" type="datetime1">
              <a:rPr lang="es-ES" smtClean="0"/>
              <a:pPr/>
              <a:t>09/02/2025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F8F48A-6110-47DA-8521-A1D1FFD22FE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759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 </a:t>
            </a: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5589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499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3740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8210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607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6177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614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21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234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6053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5668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605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833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410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973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9044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7067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1527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6736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9841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9035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7710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4914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57174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0074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15841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66838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76777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31514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3958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2707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6283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59019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41456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2714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es-ES" smtClean="0"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004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B9459-25CE-40A2-B345-3C37E8C43C15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6A0A6F-BECE-41EA-BF07-798F4132C9EF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A4E8EF-BBD5-4328-B9AD-651CDE96AA78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BCEF7A-A401-4FF2-808B-CF842632DA4F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82FAF-75BA-4122-805A-A75045D55CE9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72C4E0-D24B-4FEB-8047-4C0D0110F0CE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CECD4F-F723-4DE4-AF10-E28D68B82B2D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48780-B602-44CF-86FF-34AFCE04270A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F502F7-479D-448B-8DD6-F7BE5FAA2482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CB996-CD22-4BBC-9BD8-D422A4A670AF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769469-E73C-4D84-894B-33B71544AD78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4397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1B3EB86-27BA-4D1C-9385-C80361276849}" type="datetime1">
              <a:rPr lang="es-ES" noProof="0" smtClean="0"/>
              <a:t>09/02/2025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6580AB-5C3C-4B4F-8E2A-8B7A0A8CE69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3DC1CF96-8B3D-42D1-ACF5-9563B8779B45}"/>
              </a:ext>
            </a:extLst>
          </p:cNvPr>
          <p:cNvSpPr/>
          <p:nvPr/>
        </p:nvSpPr>
        <p:spPr>
          <a:xfrm flipV="1">
            <a:off x="9756775" y="0"/>
            <a:ext cx="881063" cy="660400"/>
          </a:xfrm>
          <a:custGeom>
            <a:avLst/>
            <a:gdLst>
              <a:gd name="connsiteX0" fmla="*/ 2284086 w 4568170"/>
              <a:gd name="connsiteY0" fmla="*/ 1142042 h 3429000"/>
              <a:gd name="connsiteX1" fmla="*/ 1142043 w 4568170"/>
              <a:gd name="connsiteY1" fmla="*/ 2284085 h 3429000"/>
              <a:gd name="connsiteX2" fmla="*/ 2284086 w 4568170"/>
              <a:gd name="connsiteY2" fmla="*/ 3426128 h 3429000"/>
              <a:gd name="connsiteX3" fmla="*/ 3426129 w 4568170"/>
              <a:gd name="connsiteY3" fmla="*/ 2284085 h 3429000"/>
              <a:gd name="connsiteX4" fmla="*/ 2284086 w 4568170"/>
              <a:gd name="connsiteY4" fmla="*/ 1142042 h 3429000"/>
              <a:gd name="connsiteX5" fmla="*/ 2284085 w 4568170"/>
              <a:gd name="connsiteY5" fmla="*/ 0 h 3429000"/>
              <a:gd name="connsiteX6" fmla="*/ 4568170 w 4568170"/>
              <a:gd name="connsiteY6" fmla="*/ 2284085 h 3429000"/>
              <a:gd name="connsiteX7" fmla="*/ 4292493 w 4568170"/>
              <a:gd name="connsiteY7" fmla="*/ 3372816 h 3429000"/>
              <a:gd name="connsiteX8" fmla="*/ 4258360 w 4568170"/>
              <a:gd name="connsiteY8" fmla="*/ 3429000 h 3429000"/>
              <a:gd name="connsiteX9" fmla="*/ 309810 w 4568170"/>
              <a:gd name="connsiteY9" fmla="*/ 3429000 h 3429000"/>
              <a:gd name="connsiteX10" fmla="*/ 275677 w 4568170"/>
              <a:gd name="connsiteY10" fmla="*/ 3372816 h 3429000"/>
              <a:gd name="connsiteX11" fmla="*/ 0 w 4568170"/>
              <a:gd name="connsiteY11" fmla="*/ 2284085 h 3429000"/>
              <a:gd name="connsiteX12" fmla="*/ 2284085 w 4568170"/>
              <a:gd name="connsiteY1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68170" h="3429000">
                <a:moveTo>
                  <a:pt x="2284086" y="1142042"/>
                </a:moveTo>
                <a:cubicBezTo>
                  <a:pt x="1653353" y="1142042"/>
                  <a:pt x="1142043" y="1653352"/>
                  <a:pt x="1142043" y="2284085"/>
                </a:cubicBezTo>
                <a:cubicBezTo>
                  <a:pt x="1142043" y="2914818"/>
                  <a:pt x="1653353" y="3426128"/>
                  <a:pt x="2284086" y="3426128"/>
                </a:cubicBezTo>
                <a:cubicBezTo>
                  <a:pt x="2914819" y="3426128"/>
                  <a:pt x="3426129" y="2914818"/>
                  <a:pt x="3426129" y="2284085"/>
                </a:cubicBezTo>
                <a:cubicBezTo>
                  <a:pt x="3426129" y="1653352"/>
                  <a:pt x="2914819" y="1142042"/>
                  <a:pt x="2284086" y="1142042"/>
                </a:cubicBezTo>
                <a:close/>
                <a:moveTo>
                  <a:pt x="2284085" y="0"/>
                </a:moveTo>
                <a:cubicBezTo>
                  <a:pt x="3545550" y="0"/>
                  <a:pt x="4568170" y="1022620"/>
                  <a:pt x="4568170" y="2284085"/>
                </a:cubicBezTo>
                <a:cubicBezTo>
                  <a:pt x="4568170" y="2678293"/>
                  <a:pt x="4468305" y="3049176"/>
                  <a:pt x="4292493" y="3372816"/>
                </a:cubicBezTo>
                <a:lnTo>
                  <a:pt x="4258360" y="3429000"/>
                </a:lnTo>
                <a:lnTo>
                  <a:pt x="309810" y="3429000"/>
                </a:lnTo>
                <a:lnTo>
                  <a:pt x="275677" y="3372816"/>
                </a:lnTo>
                <a:cubicBezTo>
                  <a:pt x="99865" y="3049176"/>
                  <a:pt x="0" y="2678293"/>
                  <a:pt x="0" y="2284085"/>
                </a:cubicBezTo>
                <a:cubicBezTo>
                  <a:pt x="0" y="1022620"/>
                  <a:pt x="1022620" y="0"/>
                  <a:pt x="2284085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Marcador de posición de imagen 5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A3511D0-9C17-49D6-BDB7-D92B054322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 descr="Esta imagen es una forma decorativa abstracta. ">
            <a:extLst>
              <a:ext uri="{FF2B5EF4-FFF2-40B4-BE49-F238E27FC236}">
                <a16:creationId xmlns:a16="http://schemas.microsoft.com/office/drawing/2014/main" id="{8E504344-8563-476C-9EF9-4200B272FDC1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orma libre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19" name="Forma libre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0" name="Forma libre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24" name="Cuadro de texto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842849" y="3512329"/>
            <a:ext cx="472077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2400" b="1" dirty="0"/>
              <a:t>“La tecnología es mejor cuando reúne a la </a:t>
            </a:r>
            <a:r>
              <a:rPr lang="es-MX" sz="2400" b="1" dirty="0">
                <a:solidFill>
                  <a:srgbClr val="FF0000"/>
                </a:solidFill>
              </a:rPr>
              <a:t>gente</a:t>
            </a:r>
            <a:r>
              <a:rPr lang="es-MX" sz="2400" b="1" dirty="0"/>
              <a:t>.”</a:t>
            </a:r>
          </a:p>
          <a:p>
            <a:endParaRPr lang="es-MX" sz="3200" b="1" dirty="0">
              <a:solidFill>
                <a:schemeClr val="accent1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403" y="5215597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1600" b="1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Matt Mullenweg</a:t>
            </a:r>
            <a:endParaRPr lang="es-ES" sz="1600" b="1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56" name="Grupo 55" descr="Esta imagen es un icono de tres figuras humanas conectadas. ">
            <a:extLst>
              <a:ext uri="{FF2B5EF4-FFF2-40B4-BE49-F238E27FC236}">
                <a16:creationId xmlns:a16="http://schemas.microsoft.com/office/drawing/2014/main" id="{E56C5C06-BE0B-4D3E-8B77-1A2F0B930590}"/>
              </a:ext>
            </a:extLst>
          </p:cNvPr>
          <p:cNvGrpSpPr/>
          <p:nvPr/>
        </p:nvGrpSpPr>
        <p:grpSpPr>
          <a:xfrm>
            <a:off x="5201882" y="3512329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57" name="Forma libre 35">
              <a:extLst>
                <a:ext uri="{FF2B5EF4-FFF2-40B4-BE49-F238E27FC236}">
                  <a16:creationId xmlns:a16="http://schemas.microsoft.com/office/drawing/2014/main" id="{D07CC084-C9D4-47CF-9EAD-4A7517F97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58" name="Forma libre 36">
              <a:extLst>
                <a:ext uri="{FF2B5EF4-FFF2-40B4-BE49-F238E27FC236}">
                  <a16:creationId xmlns:a16="http://schemas.microsoft.com/office/drawing/2014/main" id="{CCAAF87D-704F-4EAD-856F-6E1E38EF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59" name="Forma libre 37">
              <a:extLst>
                <a:ext uri="{FF2B5EF4-FFF2-40B4-BE49-F238E27FC236}">
                  <a16:creationId xmlns:a16="http://schemas.microsoft.com/office/drawing/2014/main" id="{1CD5CE15-C404-4DA1-AC79-7FCD7E387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60" name="Forma libre 38">
              <a:extLst>
                <a:ext uri="{FF2B5EF4-FFF2-40B4-BE49-F238E27FC236}">
                  <a16:creationId xmlns:a16="http://schemas.microsoft.com/office/drawing/2014/main" id="{B3EDC5DA-BD5A-4D94-9EF8-995AD67F8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4" name="Forma libre 39">
              <a:extLst>
                <a:ext uri="{FF2B5EF4-FFF2-40B4-BE49-F238E27FC236}">
                  <a16:creationId xmlns:a16="http://schemas.microsoft.com/office/drawing/2014/main" id="{F9DCB288-7675-41B6-9E88-9068BFDC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5" name="Forma libre 40">
              <a:extLst>
                <a:ext uri="{FF2B5EF4-FFF2-40B4-BE49-F238E27FC236}">
                  <a16:creationId xmlns:a16="http://schemas.microsoft.com/office/drawing/2014/main" id="{9ABAA1E3-5A43-4715-8E36-58674814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6" name="Forma libre 41">
              <a:extLst>
                <a:ext uri="{FF2B5EF4-FFF2-40B4-BE49-F238E27FC236}">
                  <a16:creationId xmlns:a16="http://schemas.microsoft.com/office/drawing/2014/main" id="{EA6EC370-AE96-4357-86E0-93B6C20D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7" name="Forma libre 42">
              <a:extLst>
                <a:ext uri="{FF2B5EF4-FFF2-40B4-BE49-F238E27FC236}">
                  <a16:creationId xmlns:a16="http://schemas.microsoft.com/office/drawing/2014/main" id="{5368DFC5-02C5-4946-A452-2652C5D14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8" name="Forma libre 43">
              <a:extLst>
                <a:ext uri="{FF2B5EF4-FFF2-40B4-BE49-F238E27FC236}">
                  <a16:creationId xmlns:a16="http://schemas.microsoft.com/office/drawing/2014/main" id="{8580222D-9DD6-41E9-912C-179A6E105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ítulo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s-ES" dirty="0"/>
              <a:t>Diapositiva de recursos humanos 1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244584" y="1172241"/>
            <a:ext cx="3550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chemeClr val="bg1"/>
                </a:solidFill>
              </a:rPr>
              <a:t>ANTES DE EMPEZAR</a:t>
            </a:r>
            <a:endParaRPr lang="es-CO" sz="6000" b="1" dirty="0">
              <a:solidFill>
                <a:schemeClr val="bg1"/>
              </a:solidFill>
            </a:endParaRPr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9AF3D6D4-2D4E-7E82-6750-380FFBF952A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7855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944039" y="1171341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60674" y="-354434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0590" y="1970203"/>
            <a:ext cx="4201583" cy="1896052"/>
            <a:chOff x="518433" y="1798732"/>
            <a:chExt cx="4201583" cy="1862894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798732"/>
              <a:ext cx="4201583" cy="255686"/>
              <a:chOff x="518433" y="1957809"/>
              <a:chExt cx="4201583" cy="255686"/>
            </a:xfrm>
          </p:grpSpPr>
          <p:sp>
            <p:nvSpPr>
              <p:cNvPr id="6" name="Rectángulo: Esquinas redondeada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83821" y="1957809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Saberes Previos.</a:t>
                </a: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302951"/>
              <a:ext cx="4185838" cy="1358675"/>
              <a:chOff x="518433" y="2245089"/>
              <a:chExt cx="4185838" cy="1358675"/>
            </a:xfrm>
          </p:grpSpPr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24508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68076" y="3357543"/>
                <a:ext cx="3536195" cy="246221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Conceptos Inalámbricos</a:t>
                </a: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2816251"/>
              <a:ext cx="4186353" cy="483830"/>
              <a:chOff x="518433" y="2555375"/>
              <a:chExt cx="4186353" cy="483830"/>
            </a:xfrm>
          </p:grpSpPr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2589948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dirty="0"/>
              </a:p>
            </p:txBody>
          </p: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68591" y="2555375"/>
                <a:ext cx="3536195" cy="483830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es-ES" sz="16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Redes Inalámbricas</a:t>
                </a:r>
              </a:p>
              <a:p>
                <a:pPr rtl="0"/>
                <a:endPara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62" name="Grupo 61" descr="Esta imagen es la manos de una mujer escribiendo en una hoja de papel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orma libre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6" name="Forma libre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7" name="Forma libre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8" name="Forma libre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49" name="Forma libre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0" name="Forma libre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1" name="Forma libre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orma libre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/>
              </a:p>
            </p:txBody>
          </p:sp>
          <p:sp>
            <p:nvSpPr>
              <p:cNvPr id="53" name="Forma libre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/>
              </a:p>
            </p:txBody>
          </p:sp>
        </p:grpSp>
        <p:sp>
          <p:nvSpPr>
            <p:cNvPr id="54" name="Forma libre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5" name="Forma libre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6" name="Forma libre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7" name="Forma libre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58" name="Forma libre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ítulo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2</a:t>
            </a:r>
          </a:p>
        </p:txBody>
      </p:sp>
      <p:sp>
        <p:nvSpPr>
          <p:cNvPr id="44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3634776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7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00447" y="4192400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73190" y="2456293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Virtualización</a:t>
            </a:r>
          </a:p>
        </p:txBody>
      </p:sp>
      <p:sp>
        <p:nvSpPr>
          <p:cNvPr id="41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0590" y="4681788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42677" y="4209984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Estándares inalámbricos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42677" y="4714028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La seguridad inalámbrica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9161339" y="6477175"/>
            <a:ext cx="3221733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43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5610584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22252" y="5614353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Conclusiones</a:t>
            </a:r>
          </a:p>
        </p:txBody>
      </p:sp>
      <p:sp>
        <p:nvSpPr>
          <p:cNvPr id="61" name="Rectángulo: Esquinas redondeadas 12">
            <a:extLst>
              <a:ext uri="{FF2B5EF4-FFF2-40B4-BE49-F238E27FC236}">
                <a16:creationId xmlns:a16="http://schemas.microsoft.com/office/drawing/2014/main" id="{64E3D015-D1E6-40C0-B820-5D2B0144652D}"/>
              </a:ext>
            </a:extLst>
          </p:cNvPr>
          <p:cNvSpPr/>
          <p:nvPr/>
        </p:nvSpPr>
        <p:spPr>
          <a:xfrm>
            <a:off x="518433" y="5140856"/>
            <a:ext cx="443592" cy="236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9187696D-0387-46E9-A420-AD2392161D95}"/>
              </a:ext>
            </a:extLst>
          </p:cNvPr>
          <p:cNvSpPr/>
          <p:nvPr/>
        </p:nvSpPr>
        <p:spPr>
          <a:xfrm>
            <a:off x="1160232" y="5129447"/>
            <a:ext cx="3536195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Configuración Inalámbrica</a:t>
            </a:r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4302062-8CD4-FE77-C3F0-65442B6C69B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3768" y="1459746"/>
            <a:ext cx="4479347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TENER EN CUENTA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6" name="Grupo 205" descr="Esta imagen es un icono de una persona interactuando con tres personas. ">
            <a:extLst>
              <a:ext uri="{FF2B5EF4-FFF2-40B4-BE49-F238E27FC236}">
                <a16:creationId xmlns:a16="http://schemas.microsoft.com/office/drawing/2014/main" id="{23348E2E-A7EF-4B89-8F8D-D88C5354E9D5}"/>
              </a:ext>
            </a:extLst>
          </p:cNvPr>
          <p:cNvGrpSpPr/>
          <p:nvPr/>
        </p:nvGrpSpPr>
        <p:grpSpPr>
          <a:xfrm>
            <a:off x="7849658" y="3285515"/>
            <a:ext cx="3067397" cy="492443"/>
            <a:chOff x="7999616" y="3566010"/>
            <a:chExt cx="3067397" cy="492443"/>
          </a:xfrm>
        </p:grpSpPr>
        <p:sp>
          <p:nvSpPr>
            <p:cNvPr id="190" name="Rectángulo 189">
              <a:extLst>
                <a:ext uri="{FF2B5EF4-FFF2-40B4-BE49-F238E27FC236}">
                  <a16:creationId xmlns:a16="http://schemas.microsoft.com/office/drawing/2014/main" id="{80F4EEC6-F407-4E25-BBB6-C506B28F5A4C}"/>
                </a:ext>
              </a:extLst>
            </p:cNvPr>
            <p:cNvSpPr/>
            <p:nvPr/>
          </p:nvSpPr>
          <p:spPr>
            <a:xfrm>
              <a:off x="8578718" y="3566010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1. Cerrar los micrófonos y desactivar las cámaras.</a:t>
              </a:r>
            </a:p>
          </p:txBody>
        </p: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0FD0F77B-65FD-413C-B2B0-1AD539DC68D3}"/>
                </a:ext>
              </a:extLst>
            </p:cNvPr>
            <p:cNvGrpSpPr/>
            <p:nvPr/>
          </p:nvGrpSpPr>
          <p:grpSpPr>
            <a:xfrm>
              <a:off x="7999616" y="3639194"/>
              <a:ext cx="330200" cy="346075"/>
              <a:chOff x="2686050" y="2895601"/>
              <a:chExt cx="330200" cy="346075"/>
            </a:xfrm>
          </p:grpSpPr>
          <p:sp>
            <p:nvSpPr>
              <p:cNvPr id="192" name="Elipse 309">
                <a:extLst>
                  <a:ext uri="{FF2B5EF4-FFF2-40B4-BE49-F238E27FC236}">
                    <a16:creationId xmlns:a16="http://schemas.microsoft.com/office/drawing/2014/main" id="{C57EF862-9A10-430C-8004-66A9241CE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3" name="Forma libre 310">
                <a:extLst>
                  <a:ext uri="{FF2B5EF4-FFF2-40B4-BE49-F238E27FC236}">
                    <a16:creationId xmlns:a16="http://schemas.microsoft.com/office/drawing/2014/main" id="{13EA5F29-D427-40C4-AB4D-3D59B3F6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4" name="Elipse 311">
                <a:extLst>
                  <a:ext uri="{FF2B5EF4-FFF2-40B4-BE49-F238E27FC236}">
                    <a16:creationId xmlns:a16="http://schemas.microsoft.com/office/drawing/2014/main" id="{D591DE3C-214D-426A-9B8E-741D87BA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5" name="Forma libre 312">
                <a:extLst>
                  <a:ext uri="{FF2B5EF4-FFF2-40B4-BE49-F238E27FC236}">
                    <a16:creationId xmlns:a16="http://schemas.microsoft.com/office/drawing/2014/main" id="{921D329D-AC5C-496B-96D4-A220BC49B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6" name="Elipse 313">
                <a:extLst>
                  <a:ext uri="{FF2B5EF4-FFF2-40B4-BE49-F238E27FC236}">
                    <a16:creationId xmlns:a16="http://schemas.microsoft.com/office/drawing/2014/main" id="{87933186-B346-44AC-85AA-CA346F5F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7" name="Forma libre 314">
                <a:extLst>
                  <a:ext uri="{FF2B5EF4-FFF2-40B4-BE49-F238E27FC236}">
                    <a16:creationId xmlns:a16="http://schemas.microsoft.com/office/drawing/2014/main" id="{E0E3BA39-8375-478D-9CF6-4EC743813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8" name="Elipse 315">
                <a:extLst>
                  <a:ext uri="{FF2B5EF4-FFF2-40B4-BE49-F238E27FC236}">
                    <a16:creationId xmlns:a16="http://schemas.microsoft.com/office/drawing/2014/main" id="{550D4481-BC6A-476D-80E1-F12F8ED9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9" name="Forma libre 316">
                <a:extLst>
                  <a:ext uri="{FF2B5EF4-FFF2-40B4-BE49-F238E27FC236}">
                    <a16:creationId xmlns:a16="http://schemas.microsoft.com/office/drawing/2014/main" id="{951EE685-6291-44F0-81B1-A3B5791D1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0" name="Elipse 317">
                <a:extLst>
                  <a:ext uri="{FF2B5EF4-FFF2-40B4-BE49-F238E27FC236}">
                    <a16:creationId xmlns:a16="http://schemas.microsoft.com/office/drawing/2014/main" id="{1822195B-E26A-4DF0-B1B1-A36823632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1" name="Forma libre 318">
                <a:extLst>
                  <a:ext uri="{FF2B5EF4-FFF2-40B4-BE49-F238E27FC236}">
                    <a16:creationId xmlns:a16="http://schemas.microsoft.com/office/drawing/2014/main" id="{E33AF9C8-AD93-4E36-9887-B8B748838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2" name="Forma libre 319">
                <a:extLst>
                  <a:ext uri="{FF2B5EF4-FFF2-40B4-BE49-F238E27FC236}">
                    <a16:creationId xmlns:a16="http://schemas.microsoft.com/office/drawing/2014/main" id="{3E3913FB-5C76-4699-89D5-5A714541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3" name="Línea 320">
                <a:extLst>
                  <a:ext uri="{FF2B5EF4-FFF2-40B4-BE49-F238E27FC236}">
                    <a16:creationId xmlns:a16="http://schemas.microsoft.com/office/drawing/2014/main" id="{C96335B1-62B8-4482-A67B-BE60CF58E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205" name="Grupo 204" descr="Esta imagen es un icono de tres personas interactuando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841721" y="4273613"/>
            <a:ext cx="3075334" cy="492443"/>
            <a:chOff x="7991679" y="4554108"/>
            <a:chExt cx="3075334" cy="492443"/>
          </a:xfrm>
        </p:grpSpPr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orma libre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orma libre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Elipse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orma libre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orma libre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orma libre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Elipse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orma libre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orma libre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orma libre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Elipse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orma libre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ínea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ínea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ángulo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2. Solicitar la palabra mediante el chat.</a:t>
              </a:r>
            </a:p>
          </p:txBody>
        </p:sp>
      </p:grpSp>
      <p:grpSp>
        <p:nvGrpSpPr>
          <p:cNvPr id="204" name="Grupo 203" descr="Esta imagen es un icono de tres personas y un símbolo que representa la conexión a internet. ">
            <a:extLst>
              <a:ext uri="{FF2B5EF4-FFF2-40B4-BE49-F238E27FC236}">
                <a16:creationId xmlns:a16="http://schemas.microsoft.com/office/drawing/2014/main" id="{BCE3CAEB-5C3F-4903-9D74-1EC0A2984EE9}"/>
              </a:ext>
            </a:extLst>
          </p:cNvPr>
          <p:cNvGrpSpPr/>
          <p:nvPr/>
        </p:nvGrpSpPr>
        <p:grpSpPr>
          <a:xfrm>
            <a:off x="7849658" y="5261712"/>
            <a:ext cx="3067397" cy="404178"/>
            <a:chOff x="7999616" y="5542207"/>
            <a:chExt cx="3067397" cy="404178"/>
          </a:xfrm>
        </p:grpSpPr>
        <p:grpSp>
          <p:nvGrpSpPr>
            <p:cNvPr id="163" name="Grupo 162">
              <a:extLst>
                <a:ext uri="{FF2B5EF4-FFF2-40B4-BE49-F238E27FC236}">
                  <a16:creationId xmlns:a16="http://schemas.microsoft.com/office/drawing/2014/main" id="{E79FB62D-7154-40A3-BB31-9A0934208E2F}"/>
                </a:ext>
              </a:extLst>
            </p:cNvPr>
            <p:cNvGrpSpPr/>
            <p:nvPr/>
          </p:nvGrpSpPr>
          <p:grpSpPr>
            <a:xfrm>
              <a:off x="7999616" y="5630472"/>
              <a:ext cx="330200" cy="315913"/>
              <a:chOff x="4127500" y="2909888"/>
              <a:chExt cx="330200" cy="315913"/>
            </a:xfrm>
          </p:grpSpPr>
          <p:sp>
            <p:nvSpPr>
              <p:cNvPr id="165" name="Elipse 268">
                <a:extLst>
                  <a:ext uri="{FF2B5EF4-FFF2-40B4-BE49-F238E27FC236}">
                    <a16:creationId xmlns:a16="http://schemas.microsoft.com/office/drawing/2014/main" id="{BD72EF5D-EE26-4982-B3AB-9CF58444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725" y="3060701"/>
                <a:ext cx="76200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6" name="Forma libre 269">
                <a:extLst>
                  <a:ext uri="{FF2B5EF4-FFF2-40B4-BE49-F238E27FC236}">
                    <a16:creationId xmlns:a16="http://schemas.microsoft.com/office/drawing/2014/main" id="{D9F3CD5B-3BA2-4D51-A0BD-6E802941F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135313"/>
                <a:ext cx="109538" cy="60325"/>
              </a:xfrm>
              <a:custGeom>
                <a:avLst/>
                <a:gdLst>
                  <a:gd name="T0" fmla="*/ 22 w 29"/>
                  <a:gd name="T1" fmla="*/ 16 h 16"/>
                  <a:gd name="T2" fmla="*/ 0 w 29"/>
                  <a:gd name="T3" fmla="*/ 16 h 16"/>
                  <a:gd name="T4" fmla="*/ 16 w 29"/>
                  <a:gd name="T5" fmla="*/ 0 h 16"/>
                  <a:gd name="T6" fmla="*/ 29 w 29"/>
                  <a:gd name="T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22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1" y="0"/>
                      <a:pt x="26" y="3"/>
                      <a:pt x="29" y="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7" name="Elipse 270">
                <a:extLst>
                  <a:ext uri="{FF2B5EF4-FFF2-40B4-BE49-F238E27FC236}">
                    <a16:creationId xmlns:a16="http://schemas.microsoft.com/office/drawing/2014/main" id="{85B43E76-36A9-4667-852E-AD239EC04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863" y="3060701"/>
                <a:ext cx="74613" cy="74613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8" name="Forma libre 271">
                <a:extLst>
                  <a:ext uri="{FF2B5EF4-FFF2-40B4-BE49-F238E27FC236}">
                    <a16:creationId xmlns:a16="http://schemas.microsoft.com/office/drawing/2014/main" id="{DFF4B198-89FE-47D5-B7B7-8C893ABCC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750" y="3135313"/>
                <a:ext cx="107950" cy="60325"/>
              </a:xfrm>
              <a:custGeom>
                <a:avLst/>
                <a:gdLst>
                  <a:gd name="T0" fmla="*/ 0 w 29"/>
                  <a:gd name="T1" fmla="*/ 7 h 16"/>
                  <a:gd name="T2" fmla="*/ 13 w 29"/>
                  <a:gd name="T3" fmla="*/ 0 h 16"/>
                  <a:gd name="T4" fmla="*/ 29 w 29"/>
                  <a:gd name="T5" fmla="*/ 16 h 16"/>
                  <a:gd name="T6" fmla="*/ 7 w 29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0" y="7"/>
                    </a:moveTo>
                    <a:cubicBezTo>
                      <a:pt x="3" y="3"/>
                      <a:pt x="8" y="0"/>
                      <a:pt x="13" y="0"/>
                    </a:cubicBezTo>
                    <a:cubicBezTo>
                      <a:pt x="22" y="0"/>
                      <a:pt x="29" y="7"/>
                      <a:pt x="29" y="16"/>
                    </a:cubicBezTo>
                    <a:cubicBezTo>
                      <a:pt x="7" y="16"/>
                      <a:pt x="7" y="16"/>
                      <a:pt x="7" y="16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69" name="Elipse 272">
                <a:extLst>
                  <a:ext uri="{FF2B5EF4-FFF2-40B4-BE49-F238E27FC236}">
                    <a16:creationId xmlns:a16="http://schemas.microsoft.com/office/drawing/2014/main" id="{CE8C1F83-6F38-4A0B-8E08-4398BEC1D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213" y="3030538"/>
                <a:ext cx="104775" cy="1095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0" name="Forma libre 273">
                <a:extLst>
                  <a:ext uri="{FF2B5EF4-FFF2-40B4-BE49-F238E27FC236}">
                    <a16:creationId xmlns:a16="http://schemas.microsoft.com/office/drawing/2014/main" id="{F5C16A34-C88B-42FA-BC46-1C9471DB8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813" y="2986088"/>
                <a:ext cx="157163" cy="36513"/>
              </a:xfrm>
              <a:custGeom>
                <a:avLst/>
                <a:gdLst>
                  <a:gd name="T0" fmla="*/ 0 w 42"/>
                  <a:gd name="T1" fmla="*/ 10 h 10"/>
                  <a:gd name="T2" fmla="*/ 21 w 42"/>
                  <a:gd name="T3" fmla="*/ 0 h 10"/>
                  <a:gd name="T4" fmla="*/ 42 w 42"/>
                  <a:gd name="T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10">
                    <a:moveTo>
                      <a:pt x="0" y="10"/>
                    </a:moveTo>
                    <a:cubicBezTo>
                      <a:pt x="5" y="4"/>
                      <a:pt x="13" y="0"/>
                      <a:pt x="21" y="0"/>
                    </a:cubicBezTo>
                    <a:cubicBezTo>
                      <a:pt x="29" y="0"/>
                      <a:pt x="37" y="4"/>
                      <a:pt x="42" y="10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1" name="Forma libre 274">
                <a:extLst>
                  <a:ext uri="{FF2B5EF4-FFF2-40B4-BE49-F238E27FC236}">
                    <a16:creationId xmlns:a16="http://schemas.microsoft.com/office/drawing/2014/main" id="{1D976AB4-49AA-4482-B357-FA665EA78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947988"/>
                <a:ext cx="211138" cy="49213"/>
              </a:xfrm>
              <a:custGeom>
                <a:avLst/>
                <a:gdLst>
                  <a:gd name="T0" fmla="*/ 0 w 56"/>
                  <a:gd name="T1" fmla="*/ 13 h 13"/>
                  <a:gd name="T2" fmla="*/ 28 w 56"/>
                  <a:gd name="T3" fmla="*/ 0 h 13"/>
                  <a:gd name="T4" fmla="*/ 56 w 56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13">
                    <a:moveTo>
                      <a:pt x="0" y="13"/>
                    </a:moveTo>
                    <a:cubicBezTo>
                      <a:pt x="7" y="5"/>
                      <a:pt x="17" y="0"/>
                      <a:pt x="28" y="0"/>
                    </a:cubicBezTo>
                    <a:cubicBezTo>
                      <a:pt x="39" y="0"/>
                      <a:pt x="49" y="5"/>
                      <a:pt x="56" y="13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2" name="Forma libre 275">
                <a:extLst>
                  <a:ext uri="{FF2B5EF4-FFF2-40B4-BE49-F238E27FC236}">
                    <a16:creationId xmlns:a16="http://schemas.microsoft.com/office/drawing/2014/main" id="{40CDCACF-1136-47C8-A50F-2C6DCEFC7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663" y="2909888"/>
                <a:ext cx="269875" cy="63500"/>
              </a:xfrm>
              <a:custGeom>
                <a:avLst/>
                <a:gdLst>
                  <a:gd name="T0" fmla="*/ 0 w 72"/>
                  <a:gd name="T1" fmla="*/ 17 h 17"/>
                  <a:gd name="T2" fmla="*/ 36 w 72"/>
                  <a:gd name="T3" fmla="*/ 0 h 17"/>
                  <a:gd name="T4" fmla="*/ 72 w 7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17">
                    <a:moveTo>
                      <a:pt x="0" y="17"/>
                    </a:moveTo>
                    <a:cubicBezTo>
                      <a:pt x="8" y="7"/>
                      <a:pt x="21" y="0"/>
                      <a:pt x="36" y="0"/>
                    </a:cubicBezTo>
                    <a:cubicBezTo>
                      <a:pt x="51" y="0"/>
                      <a:pt x="64" y="7"/>
                      <a:pt x="72" y="17"/>
                    </a:cubicBez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3" name="Forma libre 276">
                <a:extLst>
                  <a:ext uri="{FF2B5EF4-FFF2-40B4-BE49-F238E27FC236}">
                    <a16:creationId xmlns:a16="http://schemas.microsoft.com/office/drawing/2014/main" id="{E1D8459C-3776-4E84-AC6C-5275955B3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3140076"/>
                <a:ext cx="173038" cy="85725"/>
              </a:xfrm>
              <a:custGeom>
                <a:avLst/>
                <a:gdLst>
                  <a:gd name="T0" fmla="*/ 46 w 46"/>
                  <a:gd name="T1" fmla="*/ 23 h 23"/>
                  <a:gd name="T2" fmla="*/ 0 w 46"/>
                  <a:gd name="T3" fmla="*/ 23 h 23"/>
                  <a:gd name="T4" fmla="*/ 23 w 46"/>
                  <a:gd name="T5" fmla="*/ 0 h 23"/>
                  <a:gd name="T6" fmla="*/ 46 w 46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3">
                    <a:moveTo>
                      <a:pt x="46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6" y="10"/>
                      <a:pt x="46" y="23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64" name="Rectángulo 163">
              <a:extLst>
                <a:ext uri="{FF2B5EF4-FFF2-40B4-BE49-F238E27FC236}">
                  <a16:creationId xmlns:a16="http://schemas.microsoft.com/office/drawing/2014/main" id="{3E886A0B-A097-4934-BAAA-53B791623B0B}"/>
                </a:ext>
              </a:extLst>
            </p:cNvPr>
            <p:cNvSpPr/>
            <p:nvPr/>
          </p:nvSpPr>
          <p:spPr>
            <a:xfrm>
              <a:off x="8578718" y="5542207"/>
              <a:ext cx="2488295" cy="24622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3. Preguntar</a:t>
              </a:r>
            </a:p>
          </p:txBody>
        </p:sp>
      </p:grp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66932"/>
              </p:ext>
            </p:extLst>
          </p:nvPr>
        </p:nvGraphicFramePr>
        <p:xfrm>
          <a:off x="1021142" y="5326624"/>
          <a:ext cx="4902200" cy="50673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4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u="none" strike="noStrike" dirty="0">
                          <a:effectLst/>
                        </a:rPr>
                        <a:t>1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Sábados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       8 AM a 12 M – 4 Horas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600" u="none" strike="noStrike">
                          <a:effectLst/>
                        </a:rPr>
                        <a:t>2</a:t>
                      </a:r>
                      <a:endParaRPr lang="es-C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effectLst/>
                        </a:rPr>
                        <a:t>Break</a:t>
                      </a:r>
                      <a:endParaRPr lang="es-C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       09:30 AM – 15 Minutos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809534" y="4667774"/>
            <a:ext cx="3581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400" b="1" dirty="0">
                <a:solidFill>
                  <a:srgbClr val="00B050"/>
                </a:solidFill>
              </a:rPr>
              <a:t>ESPACIOS DE FORMACIÓN </a:t>
            </a:r>
            <a:endParaRPr lang="es-CO" sz="2400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Estos son los lenguajes de programación más odiados y amados d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677" y="1301812"/>
            <a:ext cx="4572000" cy="2971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5" name="Rectángulo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F69B0E1-6760-6BA9-73D7-15B9AC50EC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8276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98042" y="2156346"/>
            <a:ext cx="2620370" cy="38065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752436" y="1544640"/>
            <a:ext cx="1924340" cy="1023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120658" y="282545"/>
            <a:ext cx="4747962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RETROALIMENTACIÓN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754" y="1733266"/>
            <a:ext cx="3317332" cy="3317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CuadroTexto 1"/>
          <p:cNvSpPr txBox="1"/>
          <p:nvPr/>
        </p:nvSpPr>
        <p:spPr>
          <a:xfrm>
            <a:off x="736979" y="1733266"/>
            <a:ext cx="1787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Ethernet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Direcciones IP</a:t>
            </a: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345" y="2379597"/>
            <a:ext cx="3106300" cy="3583339"/>
          </a:xfrm>
          <a:prstGeom prst="rect">
            <a:avLst/>
          </a:prstGeom>
        </p:spPr>
      </p:pic>
      <p:pic>
        <p:nvPicPr>
          <p:cNvPr id="8" name="Imagen 7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51B1D50-E9FC-39D1-D39F-85EABE81C50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409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821361" y="1886970"/>
            <a:ext cx="379907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SABERES PREVIOS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pic>
        <p:nvPicPr>
          <p:cNvPr id="2050" name="Picture 2" descr="3 tendencias emergentes que marcarán el futuro de la programació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91" y="1760562"/>
            <a:ext cx="6008119" cy="3234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102234" y="3178628"/>
            <a:ext cx="5237324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¿Qué es la virtualización?.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+mj-lt"/>
                <a:cs typeface="Segoe UI" panose="020B0502040204020203" pitchFamily="34" charset="0"/>
              </a:rPr>
              <a:t>¿Que es una red inalámbrica?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477228" y="6481983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ED0F0A2-9F5E-04C0-72AB-320AC77D448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082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8114409" y="5844296"/>
            <a:ext cx="3603287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CONTENIDOS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892" y="2572814"/>
            <a:ext cx="8051474" cy="1881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4873B7B9-E8C9-3ECA-CEA2-765F9CEBED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688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805086" y="3346758"/>
            <a:ext cx="3603287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CONTENIDOS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91" y="1079257"/>
            <a:ext cx="5386032" cy="5144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728871" y="3884548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02A7BFB-CD90-6745-C773-4407981692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2283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3768" y="1459746"/>
            <a:ext cx="4479347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ARCHIVOS DE TRABAJO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6" name="Grupo 205" descr="Esta imagen es un icono de una persona interactuando con tres personas. ">
            <a:extLst>
              <a:ext uri="{FF2B5EF4-FFF2-40B4-BE49-F238E27FC236}">
                <a16:creationId xmlns:a16="http://schemas.microsoft.com/office/drawing/2014/main" id="{23348E2E-A7EF-4B89-8F8D-D88C5354E9D5}"/>
              </a:ext>
            </a:extLst>
          </p:cNvPr>
          <p:cNvGrpSpPr/>
          <p:nvPr/>
        </p:nvGrpSpPr>
        <p:grpSpPr>
          <a:xfrm>
            <a:off x="7973048" y="3625038"/>
            <a:ext cx="3067397" cy="492443"/>
            <a:chOff x="7999616" y="3566010"/>
            <a:chExt cx="3067397" cy="492443"/>
          </a:xfrm>
        </p:grpSpPr>
        <p:sp>
          <p:nvSpPr>
            <p:cNvPr id="190" name="Rectángulo 189">
              <a:extLst>
                <a:ext uri="{FF2B5EF4-FFF2-40B4-BE49-F238E27FC236}">
                  <a16:creationId xmlns:a16="http://schemas.microsoft.com/office/drawing/2014/main" id="{80F4EEC6-F407-4E25-BBB6-C506B28F5A4C}"/>
                </a:ext>
              </a:extLst>
            </p:cNvPr>
            <p:cNvSpPr/>
            <p:nvPr/>
          </p:nvSpPr>
          <p:spPr>
            <a:xfrm>
              <a:off x="8578718" y="3566010"/>
              <a:ext cx="2488295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Archivos con las temáticas presentadas</a:t>
              </a:r>
            </a:p>
          </p:txBody>
        </p: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0FD0F77B-65FD-413C-B2B0-1AD539DC68D3}"/>
                </a:ext>
              </a:extLst>
            </p:cNvPr>
            <p:cNvGrpSpPr/>
            <p:nvPr/>
          </p:nvGrpSpPr>
          <p:grpSpPr>
            <a:xfrm>
              <a:off x="7999616" y="3639194"/>
              <a:ext cx="330200" cy="346075"/>
              <a:chOff x="2686050" y="2895601"/>
              <a:chExt cx="330200" cy="346075"/>
            </a:xfrm>
          </p:grpSpPr>
          <p:sp>
            <p:nvSpPr>
              <p:cNvPr id="192" name="Elipse 309">
                <a:extLst>
                  <a:ext uri="{FF2B5EF4-FFF2-40B4-BE49-F238E27FC236}">
                    <a16:creationId xmlns:a16="http://schemas.microsoft.com/office/drawing/2014/main" id="{C57EF862-9A10-430C-8004-66A9241CE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3" name="Forma libre 310">
                <a:extLst>
                  <a:ext uri="{FF2B5EF4-FFF2-40B4-BE49-F238E27FC236}">
                    <a16:creationId xmlns:a16="http://schemas.microsoft.com/office/drawing/2014/main" id="{13EA5F29-D427-40C4-AB4D-3D59B3F6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4" name="Elipse 311">
                <a:extLst>
                  <a:ext uri="{FF2B5EF4-FFF2-40B4-BE49-F238E27FC236}">
                    <a16:creationId xmlns:a16="http://schemas.microsoft.com/office/drawing/2014/main" id="{D591DE3C-214D-426A-9B8E-741D87BA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5" name="Forma libre 312">
                <a:extLst>
                  <a:ext uri="{FF2B5EF4-FFF2-40B4-BE49-F238E27FC236}">
                    <a16:creationId xmlns:a16="http://schemas.microsoft.com/office/drawing/2014/main" id="{921D329D-AC5C-496B-96D4-A220BC49B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6" name="Elipse 313">
                <a:extLst>
                  <a:ext uri="{FF2B5EF4-FFF2-40B4-BE49-F238E27FC236}">
                    <a16:creationId xmlns:a16="http://schemas.microsoft.com/office/drawing/2014/main" id="{87933186-B346-44AC-85AA-CA346F5F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7" name="Forma libre 314">
                <a:extLst>
                  <a:ext uri="{FF2B5EF4-FFF2-40B4-BE49-F238E27FC236}">
                    <a16:creationId xmlns:a16="http://schemas.microsoft.com/office/drawing/2014/main" id="{E0E3BA39-8375-478D-9CF6-4EC743813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8" name="Elipse 315">
                <a:extLst>
                  <a:ext uri="{FF2B5EF4-FFF2-40B4-BE49-F238E27FC236}">
                    <a16:creationId xmlns:a16="http://schemas.microsoft.com/office/drawing/2014/main" id="{550D4481-BC6A-476D-80E1-F12F8ED9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9" name="Forma libre 316">
                <a:extLst>
                  <a:ext uri="{FF2B5EF4-FFF2-40B4-BE49-F238E27FC236}">
                    <a16:creationId xmlns:a16="http://schemas.microsoft.com/office/drawing/2014/main" id="{951EE685-6291-44F0-81B1-A3B5791D1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0" name="Elipse 317">
                <a:extLst>
                  <a:ext uri="{FF2B5EF4-FFF2-40B4-BE49-F238E27FC236}">
                    <a16:creationId xmlns:a16="http://schemas.microsoft.com/office/drawing/2014/main" id="{1822195B-E26A-4DF0-B1B1-A36823632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1" name="Forma libre 318">
                <a:extLst>
                  <a:ext uri="{FF2B5EF4-FFF2-40B4-BE49-F238E27FC236}">
                    <a16:creationId xmlns:a16="http://schemas.microsoft.com/office/drawing/2014/main" id="{E33AF9C8-AD93-4E36-9887-B8B748838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2" name="Forma libre 319">
                <a:extLst>
                  <a:ext uri="{FF2B5EF4-FFF2-40B4-BE49-F238E27FC236}">
                    <a16:creationId xmlns:a16="http://schemas.microsoft.com/office/drawing/2014/main" id="{3E3913FB-5C76-4699-89D5-5A714541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3" name="Línea 320">
                <a:extLst>
                  <a:ext uri="{FF2B5EF4-FFF2-40B4-BE49-F238E27FC236}">
                    <a16:creationId xmlns:a16="http://schemas.microsoft.com/office/drawing/2014/main" id="{C96335B1-62B8-4482-A67B-BE60CF58E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205" name="Grupo 204" descr="Esta imagen es un icono de tres personas interactuando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965111" y="4613136"/>
            <a:ext cx="3075334" cy="738664"/>
            <a:chOff x="7991679" y="4554108"/>
            <a:chExt cx="3075334" cy="738664"/>
          </a:xfrm>
        </p:grpSpPr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orma libre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orma libre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Elipse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orma libre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orma libre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orma libre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Elipse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orma libre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orma libre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orma libre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Elipse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orma libre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ínea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ínea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s-E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ángulo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es-ES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Archivo de texto con las URL para desarrollar las actividades en clase.</a:t>
              </a:r>
            </a:p>
          </p:txBody>
        </p:sp>
      </p:grp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1316091" y="4513789"/>
            <a:ext cx="42360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>
                <a:solidFill>
                  <a:schemeClr val="accent5"/>
                </a:solidFill>
              </a:rPr>
              <a:t>https://cutt.ly/AgM0dVz</a:t>
            </a:r>
          </a:p>
        </p:txBody>
      </p:sp>
      <p:pic>
        <p:nvPicPr>
          <p:cNvPr id="7170" name="Picture 2" descr="El plan gratuito de Dropbox cambia y limita a 3 los dispositivo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692" y="1704322"/>
            <a:ext cx="4572000" cy="228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1F117C6-9C91-0AF1-C88A-291362C5E4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3277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VIRTUALIZACION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51515" y="4628318"/>
            <a:ext cx="51189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En Informática, la virtualización es la creación a través de software de una versión virtual de algún recurso tecnológico, como puede ser una plataforma de hardware, un sistema operativo, un dispositivo de almacenamiento o cualquier otro recurso de red.​</a:t>
            </a: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56" y="1295850"/>
            <a:ext cx="3964069" cy="2908700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D0CCF23-D9E5-4E88-E5D8-1CEC15D2CE6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258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VIRTUALIZACION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93" y="2074459"/>
            <a:ext cx="5333869" cy="3412391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B1553AA-ED5E-D01F-C0A0-A23655C7167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305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VIRTUALIZACION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6" y="2134251"/>
            <a:ext cx="6038850" cy="3114675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07BCC14-510D-203D-DA06-789F1B2FAEE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3016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VIRTUALIZACION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61" y="2025105"/>
            <a:ext cx="5923690" cy="3332968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560D4D07-5AAF-8435-2A6A-6E5D93CF90A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237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VIRTUALIZACION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68" y="1822279"/>
            <a:ext cx="5731846" cy="3738619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BB9B0CDD-A58B-E4CD-D71A-9A34138A24B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3486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73" y="1829723"/>
            <a:ext cx="5238750" cy="3362325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2215509-C8AB-1866-A6C0-255D06A2816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388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128182" y="2814426"/>
            <a:ext cx="45302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El término red inalámbrica se utiliza en informática para designar la conexión de nodos que se da por medio de ondas electromagnéticas, sin necesidad de una red cableada o alámbrica. La transmisión y la recepción se realizan a través de puertos</a:t>
            </a:r>
            <a:endParaRPr lang="es-CO" dirty="0"/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8153AA3-309E-67C3-C902-A7BB3FC8924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3008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TIPOS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951994" y="334790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WPAN</a:t>
            </a:r>
            <a:r>
              <a:rPr lang="es-CO" dirty="0"/>
              <a:t>: Wireless Personal Área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WLAN</a:t>
            </a:r>
            <a:r>
              <a:rPr lang="es-CO" dirty="0"/>
              <a:t>: Wireless Local Área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WMAN: </a:t>
            </a:r>
            <a:r>
              <a:rPr lang="es-CO" dirty="0"/>
              <a:t>Wireless Metropolitan Área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WWAN</a:t>
            </a:r>
            <a:r>
              <a:rPr lang="es-CO" dirty="0"/>
              <a:t>: Wireless Wide Área Network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E2CC350-8607-4A1B-66E8-1A8FDD0E667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0989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TIPOS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1" y="1751138"/>
            <a:ext cx="6141492" cy="460611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E19E351-5C14-E1BD-1B94-82AD7F8A49C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5148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TIPOS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64" y="1468839"/>
            <a:ext cx="5920855" cy="4440641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AF4AFCA-70BA-878A-A7FC-CAEEC9F55D6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8040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 rtl="0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004137" y="1945724"/>
            <a:ext cx="47783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/>
              <a:t>MICROONDAS TERRESTRES: </a:t>
            </a:r>
            <a:r>
              <a:rPr lang="es-MX" dirty="0"/>
              <a:t>se utilizan antenas parabólicas con un diámetro aproximado de unos tres metros. Tienen una cobertura de kilómetros, pero con el inconveniente de que el emisor y el receptor deben estar perfectamente alineados. Por eso, se acostumbran a utilizar en enlaces punto a punto en distancias cortas. En este caso, la atenuación producida por la lluvia es más importante ya que se opera a una frecuencia más elevada. Las microondas comprenden las frecuencias desde 1 hasta 300 GHz.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1CFA258B-C11F-7AFB-7FCA-00FFE42D3F0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369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421" y="1818563"/>
            <a:ext cx="4220305" cy="3080983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597625A-DDD0-0DC2-DF59-96A8274EFF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627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51393" y="2105957"/>
            <a:ext cx="546883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/>
              <a:t>MICROONDAS POR SATÉLITE: </a:t>
            </a:r>
            <a:r>
              <a:rPr lang="es-MX" dirty="0"/>
              <a:t>se hacen enlaces entre dos o más estaciones terrestres que se denominan estaciones base. El satélite recibe la señal (denominada señal ascendente) en una banda de frecuencia, la amplifica y la retransmite en otra banda (señal descendente). Cada satélite opera en unas bandas concretas. Las fronteras frecuencia les de las microondas, tanto terrestres como por satélite, con los infrarrojos y las ondas de radio de alta frecuencia se mezclan bastante, así que pueden haber interferencias con las comunicaciones en determinadas frecuencias inalámbricas.</a:t>
            </a: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01124DAA-0505-39E2-FB5E-6B37768A675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2525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41" y="1760205"/>
            <a:ext cx="4762500" cy="3419475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CDF88B15-7075-A8CE-A365-60BD135D23C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1819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375812" y="2651868"/>
            <a:ext cx="54688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/>
              <a:t>INFRARROJOS: </a:t>
            </a:r>
            <a:r>
              <a:rPr lang="es-MX" dirty="0"/>
              <a:t>Se enlazan transmisores y receptores que modulan la luz infrarroja no coherente. Deben estar alineados directamente o con una reflexión en una superficie. No pueden atravesar las paredes. Los infrarrojos van desde 300 GHz hasta 384 </a:t>
            </a:r>
            <a:r>
              <a:rPr lang="es-MX" dirty="0" err="1"/>
              <a:t>THz</a:t>
            </a:r>
            <a:r>
              <a:rPr lang="es-MX" dirty="0"/>
              <a:t>.</a:t>
            </a:r>
            <a:endParaRPr lang="es-CO" dirty="0"/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E2A1045-0540-4D8D-34AB-D11B16E6A28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6953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67951" y="3178628"/>
            <a:ext cx="6199622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Clasificación por su rango</a:t>
            </a:r>
          </a:p>
          <a:p>
            <a:pPr algn="ctr" rtl="0">
              <a:lnSpc>
                <a:spcPts val="4000"/>
              </a:lnSpc>
            </a:pP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1026" name="Picture 2" descr="Ventajas y Desventajas (Infrarrojos) | Tipos de Transmisión de Dat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76" y="2136517"/>
            <a:ext cx="5069873" cy="373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43B5158-FC38-2E11-8243-BD139D42B5C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7398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95247" y="55737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Estándares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26" y="1136669"/>
            <a:ext cx="7635606" cy="573268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BCC2E3A-D602-1F89-FC6C-2D5B7F8101D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0586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27007" y="164921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Estándares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050" name="Picture 2" descr="Estándares de redes inalámbricas - aprendizajeda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37" y="1337280"/>
            <a:ext cx="9267271" cy="513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9263F507-F28B-2D5C-20C2-F361679E21F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6548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27007" y="164921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Estándares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592" y="2345442"/>
            <a:ext cx="7842146" cy="2857216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EB720B6-C749-38F4-3B3C-0AE92FBAD0B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23080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27007" y="164921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Seguridad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601" y="1863487"/>
            <a:ext cx="6632812" cy="3627319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4B70360-36E7-8F93-3E48-1534EA65BC1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7291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98944" y="2902391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Seguridad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14" y="1010802"/>
            <a:ext cx="4376230" cy="5833549"/>
          </a:xfrm>
          <a:prstGeom prst="rect">
            <a:avLst/>
          </a:prstGeom>
        </p:spPr>
      </p:pic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5561C651-2802-255A-D30C-2356CD49B57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3580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6498944" y="2902391"/>
            <a:ext cx="6199622" cy="1025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CONCEPTOS BÁSICOS</a:t>
            </a:r>
          </a:p>
          <a:p>
            <a:pPr algn="ctr">
              <a:lnSpc>
                <a:spcPts val="4000"/>
              </a:lnSpc>
            </a:pPr>
            <a:r>
              <a:rPr lang="es-ES" sz="2800" dirty="0">
                <a:latin typeface="Segoe UI" panose="020B0502040204020203" pitchFamily="34" charset="0"/>
                <a:cs typeface="Segoe UI" panose="020B0502040204020203" pitchFamily="34" charset="0"/>
              </a:rPr>
              <a:t>Seguridad </a:t>
            </a:r>
            <a:r>
              <a:rPr lang="es-ES" sz="28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Redes </a:t>
            </a:r>
            <a:r>
              <a:rPr lang="es-ES" sz="28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Inalámbricas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10108738" y="6357257"/>
            <a:ext cx="1755716" cy="3077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2000" b="1" i="1" dirty="0">
                <a:latin typeface="+mj-lt"/>
                <a:cs typeface="Segoe UI" panose="020B0502040204020203" pitchFamily="34" charset="0"/>
              </a:rPr>
              <a:t>ADMON REDES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6" y="1134114"/>
            <a:ext cx="6724070" cy="5048322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5C37E40-C597-DEBB-BA6D-8C477D707A6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35741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927903" y="1126491"/>
            <a:ext cx="7304204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RETO: </a:t>
            </a:r>
            <a:r>
              <a:rPr lang="es-ES" sz="44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CONFIGURACIONES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1588638" y="2606722"/>
            <a:ext cx="94796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u="sng" dirty="0"/>
              <a:t>EQUIPO 1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Enrutamiento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 err="1"/>
              <a:t>Ip</a:t>
            </a:r>
            <a:r>
              <a:rPr lang="es-419" dirty="0"/>
              <a:t> V6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r>
              <a:rPr lang="es-419" b="1" u="sng" dirty="0"/>
              <a:t>EQUIPO 2 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Voz Sobre </a:t>
            </a:r>
            <a:r>
              <a:rPr lang="es-419" dirty="0" err="1"/>
              <a:t>Ip</a:t>
            </a: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r>
              <a:rPr lang="es-419" dirty="0"/>
              <a:t>DHCP + NAT</a:t>
            </a:r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419" dirty="0"/>
          </a:p>
          <a:p>
            <a:pPr marL="342900" indent="-342900">
              <a:buAutoNum type="arabicPeriod"/>
            </a:pPr>
            <a:endParaRPr lang="es-CO" dirty="0"/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D7D30D3-202E-2108-ECEB-49B4104F54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24568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b="29941"/>
          <a:stretch/>
        </p:blipFill>
        <p:spPr>
          <a:xfrm>
            <a:off x="0" y="934363"/>
            <a:ext cx="12192000" cy="4802339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438F69C-86CE-8C52-DA24-187E43B18B0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0664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2713251" y="1261909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 +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CuadroTexto 6"/>
          <p:cNvSpPr txBox="1"/>
          <p:nvPr/>
        </p:nvSpPr>
        <p:spPr>
          <a:xfrm>
            <a:off x="2511188" y="3125337"/>
            <a:ext cx="72662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Por favor por equipos desarrollar los siguientes componentes:</a:t>
            </a:r>
          </a:p>
          <a:p>
            <a:endParaRPr lang="es-419" dirty="0"/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/>
              <a:t>Taller Cisco Packet Tracert </a:t>
            </a:r>
            <a:r>
              <a:rPr lang="es-419" dirty="0">
                <a:sym typeface="Wingdings" panose="05000000000000000000" pitchFamily="2" charset="2"/>
              </a:rPr>
              <a:t> 20 Minutos.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>
                <a:sym typeface="Wingdings" panose="05000000000000000000" pitchFamily="2" charset="2"/>
              </a:rPr>
              <a:t>Taller Cisco Router  20 Minutos.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419" dirty="0">
                <a:sym typeface="Wingdings" panose="05000000000000000000" pitchFamily="2" charset="2"/>
              </a:rPr>
              <a:t>Taller Cisco Router + Switch  20 Minutos.</a:t>
            </a:r>
          </a:p>
          <a:p>
            <a:r>
              <a:rPr lang="es-419" dirty="0">
                <a:sym typeface="Wingdings" panose="05000000000000000000" pitchFamily="2" charset="2"/>
              </a:rPr>
              <a:t> </a:t>
            </a:r>
            <a:endParaRPr lang="es-CO" dirty="0"/>
          </a:p>
        </p:txBody>
      </p:sp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2998AD23-E981-F3B1-479C-D1B965DB57F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63071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109036" y="1008917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ACTIVIDADES CORTE 2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712" y="2238375"/>
            <a:ext cx="9172575" cy="2381250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CA792D1-FAA1-B5FD-9E18-2A22FF3415B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0136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3109036" y="1008917"/>
            <a:ext cx="7877411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ACTIVIDADES CORTE 3</a:t>
            </a:r>
          </a:p>
        </p:txBody>
      </p:sp>
      <p:sp>
        <p:nvSpPr>
          <p:cNvPr id="2" name="AutoShape 2" descr="https://cdn.exceltotal.com/wp-content/uploads/2014/02/filtros-en-excel-0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313792"/>
            <a:ext cx="8934450" cy="3076575"/>
          </a:xfrm>
          <a:prstGeom prst="rect">
            <a:avLst/>
          </a:prstGeom>
        </p:spPr>
      </p:pic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D7A54B0-C699-77B7-B4EE-33E1A042A12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96702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831085" y="3344447"/>
            <a:ext cx="5513448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ts val="4000"/>
              </a:lnSpc>
            </a:pPr>
            <a:r>
              <a:rPr lang="es-ES" sz="4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CONCLUSIONES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ipse 123">
            <a:extLst>
              <a:ext uri="{FF2B5EF4-FFF2-40B4-BE49-F238E27FC236}">
                <a16:creationId xmlns:a16="http://schemas.microsoft.com/office/drawing/2014/main" id="{0B8C9A86-3574-4A2E-BC62-481A2BE7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4637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2" name="AutoShape 2" descr="data:image/jpeg;base64,/9j/4AAQSkZJRgABAQAAAQABAAD/2wCEAAkGBxMSEhUTERMVFRUWFRUWFRcVFRcWFRUVFRgWFhUVFRUYHSggGBolHRUVITEhJikrLi4uFx8zODMtNyguLisBCgoKDg0OGxAQGi0dHyUvMC0tLS0tLS0tLS0tKy0uKy0tLS0tLS0tKy0tLS0tLS0tLS0tLS0tLS0tLS0rLS0tLf/AABEIALABHgMBIgACEQEDEQH/xAAcAAACAwEBAQEAAAAAAAAAAAAEBQIDBgcBAAj/xABFEAACAQIEAwUDCAgFAgcAAAABAgMAEQQFEiExQVEGEyJhcTKBkQcUI0JSobHBJDNDU2Jy0eEVgpKT8NLxFjREVGODwv/EABkBAAMBAQEAAAAAAAAAAAAAAAECAwAEBf/EACwRAAICAQIFAwQBBQAAAAAAAAABAhEDITEEEkFRYRMi8BQjcbGRBTJCgaH/2gAMAwEAAhEDEQA/AMhGtXqteRrV6iiA8C1MrXqip2pQgJTxGi4U24UISdRo6AX51NlEWxR+VHphj0qmKL1pphxcUoScMXkKJRfKoqtudTS/WsAuQeVXaahGvU1ctEBYieVWiOoIR1q5fWiY8VPKrAPKvL+dWx260QEQnlUjHflU7DrXu3WsYh3dt7U3gb6MelLCPOidfhAvyrGF+OJ1G1QwikMDRLxA18qW50aMHfOK9E56UD76j3nnTAGiy1JmpYs/nVgxPnWMfY8be40sA3Btwo+eS/OhJTbnSmHcMtxXzNSbC4y216KOMHWmMGrJvSPObE7iivnovxoDFy6jsaBgzIRYNt0pjKoOxpXlsoF96KM3nWMDZ4ngO3KsfDGeQPOtjmD3U78qQaDWoNmGjWrlFRQVcoqgh8BXtegV6RSMKAFPjN+tMIGHIUDp8R9aOgWpMqthrh0oxWtypdC/nV8TnrQs1DCOTqKneh03q9B51jUXI3lVuu/KqUPU1bYHnWAWIPKjI1oaOiol86KMTWPyqbL5VEG3OvQaxj3T5V6iX5V7pqQrGLBCasEdRU+dfFvOjQDwr5UDicfGjaWdVO+zGxNuNr8aFzntCkFxYsRxte1wLkX6/wDL1zvOcwWWcvptdwx63ta59yiivAVHubrMO0IiTvWC6CwVNzqkP8Nha2xPp0ptgsQsqB13DC4rkUkhkViGNlYhRc2BuRdRy2tw60PlHaubB61iKlSdtQ1D3f2pqM0dr0eVfe6sd2T7ejEsI5Iwj7XIbY3IXUARwuRffa/OtuyedYUDY+VVtGbXtRvc+dRK8r0KNYDbbhUCPKiGXfjVRTfjRMDvahpOPA0RJGb8a8Kc70KMVxyaeANQbFNfgasK35ihpAd96NGITY0m4IPSqom6XqQ53qMbHyrUYyyCrVFQQVaKoIe18a+rwmlYUDxixNxzo+CYDlStGJPGjYV4b1FlUMISOlFBKDXw86ujxAJtelsIdE/K1TdyLaVvQ8dutNcnsX91Ux/3ak8m2mgFHihYhlIa/Cr4n1GyKTVWZr9M3pTXs0m7Uqf32ug7j9hO9QP55oazLRcOOU0FnP61qBiHiHrXbLDFq9jz1nnF1uaeOiFXyoPB70eBauE7yOk9K9A8q+D16o86YBZAoJpf2hx3chVUEFwxLAX0KouW4cdwB5mmWF41ne2eGMjxqouWBQdeKkgetxR6BivcYuWfvfBAjuW8XM2N78/WneVdgbJrxDeIj2Ry42v8TXRsmyKHCxhY1FwN2tuTzNDZrNStuiqps412ryk4a6j2TuP+/wAfjWIxD710v5QiXQH7J2/58K5hNGb08JJoXJFpkYpSpDKbEbgiu79ge0vz3DDX+uj8Mn8XSQDobH3g1wVhat58jeN04qSIjZ4yVPRkPL1BPwpmSOyEgcqg1rcK9O/OosLc6FgoFdrH2fxqJIPKrb+dVSA8jWRgWRvKqjbnRLk1SaxilgOQoV2HQ0ZLtQkhJrBBmRTvY0Ow6XouzW4iqZXPCsYzyCrAKigqYqgh4ag5r1zVEj0jGQNh+Jo6L0oCA07yzLWkXUDYXqLKIT57I4UFb38r0uyjFSGTcHfrXQMNkRuCxBHQircR2bDEFLKfQUVGNaiu7FWHc7XplhsUU3XjV0PZp/tij4Oz5HFqphpT12J5rcHy7geGw7zOzUbE7QG3Wiocmdb6XterRlLH2mvQio+u5dAycvQUVuIMa5ZyTVSDcU/fs+Sb6qi3ZxvtV2vLE4Vhnd0Sy03pgfOl+TwHWyX4U6ODPWuCrPRsEGGY78q9VbCmaxWW1DHBHrTtdhU2VYU7mpT4RZWjbgUdWBtfgf6Ej31fhsJpN70Hn3eL3RVisevTLpHi8YshB5DVt6stZI16jzHYlI1JYgetYPtH2qwsexk8XJQCWPoo3PwoXO8BOsgdsS7RSyCNGY3MSWB+qPCCzMvU6Bc71KTscfnEZM7FWjIuAt9EZUgXAuR4iN+o3pGlR0Q0pmRzbGyYpSsWHcKfrykILeSe0furEYrASI2kgn0/KutZ/pXwINl28zWFzDHaZRtfj8ajCetJHRPGmrkwfEwpLhZCESPuR4VC2IsCQS/FidLXv1FXfJKyjMF1Dcxyad/rWudufh1Vfmk6LgXVB9LI2qU25Fv6G3pes32Vzf5pi4pypYIWuo2JDKVNr7Xsb+6q49mQ4irX4P0cDXpQUDlGYpiIkmiN0cXF9iOoI5EUexqhzAkyiqWFEyC/OqDeiYPynBow1OAeW9MTgYPsr8BQuWL9EL9T+NFFB0FOkSb1K2wmG5qnwFQMGGH1U+Aqxox0HwqplpuVC2fE4cck+FVNNh+i/wCn+1etVTUeVAtnJkNWCqkqypliuU0FI3Gi5TS6VuNIx0eQNWvyYkYckcd6x0L1sMnP6MfRqmOKsvOLl8Sy2FyKKgXGMWAm9k2ovsyv0Q9TTHL4/FJ/NTUIRwOX4ki7Tn4VZl80+qVGkvawU24XFOsKNqVwj6aX1X8KDQQ18DMq3747Clwxk1794belaTE+wfSsuvD3VHO3GqLYIqV2OcshmkXUZTv5UxyzWGdXbVbhVXZ4/QrRGE/WSVaK0TIy3F+US3xMgoyYO0jAPYAcKT9npL4ybytTuE/SvWjsBiPP5Z4lBSXiQNx1NVPLiQqHvvaIHDrV3bZrIlvtr+NVYx7CEdWWvQ4bFFxbaODicrjJJDuDATbEzE8CRaqJoJpZGTvLJaxFgb09h9kegpbl7fTyVyUdYv7RY04eOMGIyqqkubqBqNydV+V+QvyrNdm+06hXE7MAznTq1EhelzyBvWz7QQ6rctNn/wBO9ZfFZNg2CEhmcgFgPCC53JOkDf3+6pTWp24ZpxoX9oSttQYWYXG+xHlXN81l8V6ddqZxFIURjpF7DiBfcgVkcROSaEMVahyZb0NJgJdaG/SkMOV95iBGuqzMAdILEDmbDoLn3U9yyPTFc8xemXZKJIpppmleF4YyfEmxke9lsRyFhv1o4YtzaJ8TNRxJvcY4TMJoe8iwkg7pe7i7wKF0H6zsjcHsAurYbcqhkGdYzDOYpnsm4DyuXRDxDXAN1NxwPPlTfFsMJEglMEusasQRcTOsp9gW2uSOZ+rRDxgQazH84wP7CK15Fe9i9uNhc7fHqfRhjWzPJeZjLBdofoi0yXYNY9z4kYbWdSx4G/Am9MhOjcDvYEg7ML8LjiKyr9mxpOKheR5vCRFuJY0+zpNtuuodeNU4TGCZxHIY0xSfqyoJ1jiY3EYABtzG+3xafCxauLNHiZJ09TqOWx/RL6VLFRsUIU6WI2PQ9az3YjtJ3jthpjplW5QMNLWXZ42G12U735hgeRrUZg1luBvXNytOjoUk/cgZAQoDG5tuepoPMoJHUd0+ghgSbXuoO499QOLkI9mq4J5C4BG1USrUWVPQJdrC/Sl2IzVF539KazLQhhX7I+FScW3dhOVJUr1UpqV6QuUzGl0rcaOnNLJW41OQyJxEVssp/wDKn0asRCa2eVG+F9xqY5f2bYCFbniTamuCIGq+12pbkOHHdpq4qSeNNIIVN7/avxprFoaRSAWuePClcX62T+YUxRVNr224b0DDEe8c8iRWMOsS40MOYFZtVJB9K0eJjGhrcSKzjYd7e6ocQraL4HuaDs2foForCnxyUL2eTTCobjRWGHikNdMdkc8t2Z3ss98biPUU+w7fTSVm+yD3x2J9R+daXDRfTSE8Da1LDYzE3bVgUj/nX8aCzV7PAP41/CnHanBF1TQL2YHjSrNMDI0sBC7KwJ3G21erw0ksbvz+jyuLjJ5FS7fs28LCwHkKU5a308vuptFGAAedqW5bhz30pbgeFcB6Bfjk1sF+0rD41yvOM7mhEsDXBVifRrmxv8LeorrckP0iWrIZ3lMeZmURqYpYJGik1WBto1IzEcVva3qaZY3LXsGOXk0fU4tmE+q55k3PPjUspyd5zdQdI4nkP710UfJ4kc2FRyJVmZxJobgEUk2IseI40sx6jKJ4+7fvEZPpImWz6Cd2axttxW++zcBTZMcktA480ZSoFkwTLGdIJ0DURzsu+w501yDETqkGHlUM2JmM0okTfQtmN+HGw417nbrOFECg96V0ve3dcy5/htf86tyDtuTKI5Lzzd0YkZkULqViAPB9ra5tbY0eFSraxONb5q6BPzlsZix3awlHxNu756MOpBJ9bsffTiaVH+dxGF1k1qlogSAuwuCLAX/OsvlczYdosQcOiPJN3UfUKD9I2m1hc+EX5X8qZZVnc8cmYzsb6GR7EAA23AuRtsK61B9Pmp57d7/NDQRyCKeaUR4hV1iM2UXmkUBFVfrEbXuNqx/aDFQxSMyAwOEaVYglihBsrOw6m50j39K1uJMvzSWSaTRKqxFXJ8KsQNboAdiWLe7T51nc6ynDvOp7yWQy4aTcC92A134edNzbmpKVPv8At0Ybs7msiSCa/eSJPFJqv9JuSPgeHvr9HRYtZo0kXg6hgDxF+IPmDt7q/LeHw360I9mVL2OxujDh51335OhJ82MbuHtpdSGvZZVvpJ9VY++uWUd2dqfQ0ckgFVpJermwPlURhSt7CltG1KcQaHNXy0OayAcjU16TVatXzNUToKp2pXKeNHztSuU8anIZFsNa3C7YPY22NZLDvtWsib9E91TKFUeWsE1CR72vxonARzSouhZSbb2U7/dXU8jOHkhSSKJACo20i4IG4J6imqv029Ko8Kl1EjmUehy7LsF3i6i7A8LXq6LDEM8etrG1jzHCtBmOA7lyQPCxv7zxpMT9Mfd+VKoUqM5W7QNm2XvHEWWZ77c70WmUkxg9619N69z9/oG91MMM30Q/l/Kn5ULYuw2UPp/XPzq3slM5Eyu2rS5AJ6Uywx8PxpT2WbxYn+c/gKLQExf2Kb9OxX839aMzrEOZ2VHK2A4AedLOwr/p2K/m/rR2Yn9Jf0H51zZm4w0L4UnLUNyvBvNctK2xqGKy6QToglbSRuLD8aM7Mv7XqaLxQ/SEPlXRh1gmRzJKTopxmAeMBhK3tC4PMdKd4FbqCeNqDzg+D3ii8ubwD0qhMLSMXFZnN8C2HeSW6tDMyviAR4yu6jQwtcKTqA42HE7Vo0nGvQGAci9jzX6xHuB+6s4ZTiZJ41jZBoRHSXeJgXRVKEXFwobhV8KatnLnknpuB57Mq/NsSEKxJh5GEkDA6TKyjgBuvPhzrN9vMnRsYZiJJgIk1RpfWUj8DOP4kJvbgQfI3fZlAgwuKiSJ4jDIkaFTq0xyPquBzUM0m3QCmr93iIjKLTSrePXH4HUM63XY3FhIPgap+ScG1LT58/BzzC5PIBHDCl5RKpkXfREsr2hVy1rix1EC/Ctf2Z7OfNZQAkBlaN3kc3LazbQqi2wC3vzJY01wOXQRyT93DMp7yG/GzaQCCDfcb/jQkODjGYlhhJbtru5vpN11fa/KtBJJpaUvnUpPJKbTfevmgBP84aLCM0sF1xAva9vaYbUD2zwspwmMvKhMk+HRQm2osAoVz9klhROLgRMLDbBNtibAE7jxNvxrSNEE1KIFjDkkFiCNccaMjW8iD/oprr55IR3V+O/YWxYYD5xh0heUrh4wHkvpcomnYt51RMZe7wMjvHEAwjYAX2YaLb/y07MTHFF2mcoIiCqqFUm/InjyrI4nHxx4KNocPrHzjYzNcg62sfj+NCOvzwGSr/v7s5vhMvZ8bLAQspLSre+n63tX5V135KsR4XjIjBVFFozv9Gzr4vOzLXMcKhOcuXhBJnfUoayXe9t+lyK6B2GBgzGWNkjQPqACncawHA9LJ8aVx9jLuX3EdNqrEHarapxJ8Nc50MVyGqGq16paqEzjqmvnaqg1eM1QZ0FU5pc/OjZzS6Q8anIZBEbVqQ/6J/lrHxvWpS5wth9mpFDYdjc8WFkjc+GRRfop5N+R/tXSEri+EkTu1uRqC24i9bz5Pc9M8JhlP0sWwN7l4+Ct6jgfd1q0JdCU4dTT4/DCRCPhWDxEZWYg8R/auiCkHaTLb2lUbjj6VRoRMyWezAwPY8KYYScaFW++n8qX53BeFwlrn76NwiLoW9rhbUoQyGYAAE7m9K+zB3xP85/AUxRFsCbXHCgOz2HYNOLe0x0253rMyEvYJv03Ffzf1pricMz4iQjoPzr3sh2VxUOJnlkQBZGuviBNt+I5Uyn7P4rvWZdIU2+tvUMkbirTZXFOnoyrs94WcNyP5CmUzAyoR0qvJ8inR3Mi7N535UxfLm1Cymw9KthVQSJ5Xc2CZtKDHsfrCmOVp4FJ4bAnpt/w0Lj8AWARRYlgeHAczQ+a5ocFE77Oqi0YB8cjXs5ZbeFBYC++wPDnaEHN0jnyT5dwPFmZ5ZHxfgwwRhdWIWRGHhCMCCr+Zte9udB5RNLhysdw8cshdVxDgTmO108JG9mC8L+lCw4xsVG+M72WKMMGliU+3IltPdX5WsLc9h6LJs6MbM51iSWxjeUAhI9JNlRT9HKGUiwtxB8j2zuPtf8ABwxu7Xz52NEqh9CqJYnmlcFGJ9lZRJc33GwIF7e3QnZbMSHlgxHhZsVMgZRpf2GYG/MXj/CsymdrNIrk91KHiczM7OzBFWTQU0gKCQADWufTFPh5UlvFPNK7CYfbUspV+Xl60jlGqKRg1TZou8jDPpmcF51Rri/iCltI22Gm29Z7NczjhxEEzYuQBliNgDoYA6JCdttmB91PcwihQ63dlCziQ3W+9owOA4b/AI1j+0GUYZoWjknbVAZl2FrLJuNVweq2oYVG9bKS03/fkOziJBGqnFSeHGqvPiX9nh0NGY/NYWxMaRu0sizzRMjHSq6xZibj6ot7rjnQuJw0EmGEvfj/ANPijexuY9KPbhx0C/nWYwzRDMXlSQy6yroyghBMzBVHCx2Jb3U6im66k9jQ5hiJWxgLSOjXMS37sJ3Vi2rujc3uOtAxTYcQTxTSqMPEzBmMR70y8QYhc2FzTbtOZEWfE9wskgYQ4a8as+qwBcXF/aJPotZHN5jGY4EQCaWMNiCL28IvqaPhe4O+3CjFNrQWXd+fn+9xF20x0LTQzRMwkeJWfSAviU2DN1Y239BV2MzlI58Pi8O5EpUMyOhFiCAN+BBvbbpSbtPMuLxyjwogRIyy3Cgpct95oWVhqbWdSgiONuoTxMo8yNr1KWWSXKdKxp0+p+pFa4B6i+3D3VTijtSPsG4GX4UBtVolF/MXBX0BuvuptiWrnrUs3oAvQ7iiHqlqcQ4kGrxmqkNVkMbOwVFLMeAUEn4CoHQVzGl8hraYXsVM6lpXWLa9iNRA5lrEAfGqH7CX4YpTf7MTN7vC1I4MKmjJJWlkb9F26U1g+TKU8J1NuNoz/wBVOJOwUvc933nLj3bfheleOXYb1InPezUPeu4dm2G25p20rYKaKeFm1K17EmzD6ynyIuKfZL8nsmHLMZg2r/42FvvonM+xryhfpAtuqE/nVcUKmnLYnkncXW50nKMxTEwpNEbq4v5g81PmDce6i5BcWPA1iuwmWSYLUjyh43N7aSNL8NQN+Y2PoK2x4+lUlV6E1sYvNcrEbnodx/SqcJlqu1r2+JrYZpgxIhHPlSSGFEudRLWNxwK250qjYXKgebICh+s38oJpjkuW92126bA8fhUMPjm03V2IPAlb/ea9w+DVvGbm1/EQSQfU0/prcm8krqtRhicyCo5HFASb0Bl2cyvCruoGpWY2BFlGw58TxpXj51kWRIibEMHJBtdeX3mlGNzGSGCNI730FTcH2W6f1rnyc0X4PQwxhKNaXYE/aGZJGdZHUFtgD4NuqnY10jJc4TEQiW4HJx9lxxH5j1rIdnOzwKd5iVBYi4Q/VHUjrV80rhSYlREU6b8B8BUozcd9SuWEZ6LoPc1x1vEuoC1rjYn4bgbVj89zGKRr4hWcLugUhWDDhY7XXc3HnX3+MkGzy3H8I/rS3MHX6uplPHUL299Ks8oy5kzfSwa5ZItTMYxHHK5jRYyxTCw2NpGvpkFuI47W2ufMVnZ4WxTbjVNLu/hvpmX9WkX2QL7n186YYLDxqzlbp3g0vptcr5E+zetB2biw+E8ftudl5lRzt09fXrXZ9ZGUddzh+gnCWmpmJMhlWVYsTIwMrIxEekaTexufhwrpGMwVlwyLIoVGbaQAlgEJG/xpBnFpJ0mN102IB52N6bPn67ExqbA8d+ItcdKjHOlJ2yuThpSikkWYDMTPhgVlAbVJGfDdQysyAjy8aG3kKoxGKLOGGIhtPALXW+qSPbhfcbms/keKbCd4qNdHbXpNtIbgbdLi4++imz5bJdI7xsWU6RcFuP48qquJxLqSlweVvRB2TTloAjPhZArPE1jsIpQdFv8AMLWpd2PwTqCuI7olMQO6HBdMN9Ug6+2APMCl82bINdooxr06rKvi0nUp2HEGgcR2ka2kWA32A2347UZcbC24pmj/AE7J/k0bTGYhJnMz3aCDUyyLICGlN9RCjkoNhWXgxyqk+MkZJWkusccg0yBPqqD5/lWPzHMiylVYqCbkIdKkjqBtVU2eLipoxjCEjiXwldrtyv0/tVMXEwlpsQzcHkg73E+eL3IAW4ZyWdWG6dB8Lb0P3ltCQjV4S2/EP9a3nap5rOZpWcksLHQTzRfZ1fj768ic8CQo0i21jIL8R/EN7Ucm+o0dEjsvyPZtHJgUw+sGWLWWT62h3LBvPckf9628lcM+TzPhhMWmpFKSBYn2GpBIy7oeJ8QViB1PSuz4vN8Op8UqL/MbfjS2jUy1hVDLVIznDHhPEf8A7F/rVy4hG9l1PowP4UyYtM5nlnZDgZ2/yp+bf0rVYTBLEumJRGOqgX9STe/voiOMnkaIjw7dKypCvmZThxKoFpuF92gjc78r7VdDiZ1Nw0N+pw9j7rSC1FR4Fzyq3/D2HEgepo85uWRQMwxPIwf7L/lLVwxeJ4nuD/lkX/8AZq+HCrY3dfcRQeLyKV3LJiZFWwsqlLbc91NDnQ3LIvOKxXJcP7+8P414MbjPsQH/ADSD8qG/8OTc8TP/AK1/6akOzsnOfEf7n9q3MvBqZKSbMD7KwD/O3/TTvJJZjH+kKocEi6EspHI77g0mj7Pm4BmxH+635UcvZ4Dbv5/91/61pNMMU0PRSvM8OBduVt6JwWDEahQzNbmzEnfzJvVObk6NtxfcWvU+ozAcIw0fRWsPOqZ8QxuL8rbUPrsCqiwPkRUsvlEbX0Fz0/OtTC5InkqJFGQTuWY78dzUc0KGzDxlNwNre/bevc8y/vBwIvvbcb+oNZhfnEd7q1uXBx+RpJ3XcfG9b2GU+YvDC7OwZ3NxbkD7K+6vsaCuDjjAvIwvYn6x3N6VZhOXhBkAtq+qrBveDTF8onnWOQFVClWCtfgOF+lcrttqjui4pJtizH5OkAXvNUjsLneyqegAqHz3WmgBQvQUz7Q45kkVtUakAg6rkH7qy8+Y6mvaAHqENTlHXQtGTath5w96uQ6RQOG1n9onwaiGRuckduYIbek5GM5Esdjg1vKl0mII50+ifBFfpVAbmY2f86oxGEy48JpF+/05VT0fKEWZLSn/AAZ95z1oSaY0bPl8R4Yke9TXmB7OiZtKYlb+akUFhbGedLUUTOTS7EMa2WI7BTL+1UjrahJuwUhH64X/AJf71VcPMjLiYGLkagsXHcVp8b2Jxce6hZB/CbH4GkOIyvEANrjZdIudQt8OvuplimnsI80GtwTBtqWwAFyVuDuxsdh0HX0qSYSQKZDZWhYCznxb8LL0oYK8IQ+EE+IEWJFuBPSrcRI88heRrMRfUb+O21q7Kpa7nA/Gx9Fi2EqmM3swKki4YqbrdeW/3U4/xppxdtm5i/OgcJhWf9UqhjZdB9sMN9a35VVoWNiT4jwKrsUPDxAgX58PjSOFhU60DTJR2EjJG16DyyJZCdRsqqWJ8hbYepIrSwQhUD8AbAeQtSR3Hlojq8GYL0FEjHA8KxceYw/vF+NEx5lD+9Hxq1HMsiNhHix1qffA8bH1rLR5pF+9HxFXLmsf7xfjQodZDSqE6L8KtSQDgKzIzmP94vxq5M8j+2PjQob1DQd6eS1NXc+VZ9u0SD64oSbtWBwNajPLFGxF+ZoLMM4jh9pvhvWTTPO8PiksPLaiQ2GPFwfU1qMskWFYrtcB+rUt6giqD2onbZYx671ZGcMPrL8aKixWHH1l+IoG5z5MzncewB7qLwKMT42tVf8AicP21+Ir7/E4f3i/GtYLDpdwedqq+bC1xQq5xAP2i/EV4c7w/wC8X4ihYyoJWBeYB91XYg7W07eVLxnuHH7VfiK8btHh/wB6vxFC0HXoVY/LYpf1kJahFyDDDhh6MbtPhv3i/Gqz2rww/aLQ9ngonk8kP8Jh/cmotlMP7k163a/Cj9oKqbtrhR+0FD2eDXl8njZNB+4NVtkkH7g1F+3WFH1/uoaT5QsMPrfdR9gLy+S85HB/7c19FlMSEMsBBHAil0nyk4bz+FCyfKbByBplyAby+TVzYpytu7JpdCkn1ltWck+U+PkhoST5UF5Rmm5kIlPsbfuz0qifDahYre/G4rDv8qfSL76Fk+VJ+UQ+NFTXcDjLsabMeyWHlXS0QFrkafDSPMOwQIHckgr7IfcD39aWv8p83KNaFl+UnEngqim9VC+nMKxvZTFiBmch3vcPc61C9D0/50rOZHlxdi5IMqEaYmH63mSfLnTI9usTIrKSN9ttrA0olzQNGwYEygDS67WAPsny/GmU09ewHCSVFMmIJZjbTdidI4DfgPIVp5MZfDwjna59axkJubcN61uXQhyFbgEv94tXMmd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978" y="2009958"/>
            <a:ext cx="4337089" cy="26689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929327" y="6481983"/>
            <a:ext cx="3412801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2000" b="1" i="1" dirty="0">
                <a:cs typeface="Segoe UI" panose="020B0502040204020203" pitchFamily="34" charset="0"/>
              </a:rPr>
              <a:t>HERRAMIENTAS OFIMÁTICAS</a:t>
            </a:r>
          </a:p>
          <a:p>
            <a:pPr rtl="0"/>
            <a:endParaRPr lang="es-ES" sz="2000" b="1" i="1"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5ABA5D2-312D-1B9D-249D-DAA568CD92B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32543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adro de texto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4283962" y="3812052"/>
            <a:ext cx="5283118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4000"/>
              </a:lnSpc>
            </a:pPr>
            <a:r>
              <a:rPr lang="es-E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 PREGUNTAS ?</a:t>
            </a:r>
          </a:p>
        </p:txBody>
      </p:sp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8929327" y="6481983"/>
            <a:ext cx="3412801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s-ES" sz="2000" b="1" i="1" dirty="0">
                <a:cs typeface="Segoe UI" panose="020B0502040204020203" pitchFamily="34" charset="0"/>
              </a:rPr>
              <a:t>HERRAMIENTAS OFIMÁTICAS</a:t>
            </a:r>
          </a:p>
          <a:p>
            <a:pPr rtl="0"/>
            <a:endParaRPr lang="es-ES" sz="2000" b="1" i="1"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2" name="Imagen 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16D6AEC-0448-3995-4974-ECA203D047B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765" y="115124"/>
            <a:ext cx="2504661" cy="7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95734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 de texto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s-ES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Gracias</a:t>
            </a:r>
          </a:p>
        </p:txBody>
      </p:sp>
      <p:grpSp>
        <p:nvGrpSpPr>
          <p:cNvPr id="5" name="Grupo 4" descr="Esta imagen es un icono de tres seres humano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orma libre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7" name="Forma libre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8" name="Forma libre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9" name="Forma libre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0" name="Forma libre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1" name="Forma libre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2" name="Forma libre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3" name="Forma libre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4" name="Forma libre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3" name="Grupo 22" descr="Esta imagen es de una forma abstracta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orma libre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1" name="Forma libre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22" name="Forma libre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25" name="Título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Diapositiva de recursos humanos 10</a:t>
            </a:r>
          </a:p>
        </p:txBody>
      </p: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63_TF33668227.potx" id="{B848F757-4882-4260-9664-369339BAC206}" vid="{4D2DE6CD-11E4-4246-B83E-0A0B217F758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Recursos humanos, de 24Slides</Template>
  <TotalTime>0</TotalTime>
  <Words>940</Words>
  <Application>Microsoft Office PowerPoint</Application>
  <PresentationFormat>Panorámica</PresentationFormat>
  <Paragraphs>233</Paragraphs>
  <Slides>39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Segoe UI</vt:lpstr>
      <vt:lpstr>Wingdings</vt:lpstr>
      <vt:lpstr>Tema de Office</vt:lpstr>
      <vt:lpstr>Presentación de PowerPoint</vt:lpstr>
      <vt:lpstr>Diapositiva de recursos humanos 1</vt:lpstr>
      <vt:lpstr>Diapositiva de recursos humanos 2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5</vt:lpstr>
      <vt:lpstr>Diapositiva de recursos humanos 10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2020-05-22T01:55:02Z</dcterms:created>
  <dcterms:modified xsi:type="dcterms:W3CDTF">2025-02-09T05:03:39Z</dcterms:modified>
</cp:coreProperties>
</file>